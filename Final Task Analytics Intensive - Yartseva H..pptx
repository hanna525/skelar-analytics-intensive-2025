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7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6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9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1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96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0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2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30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5149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95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348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05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14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1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99C64-9C0D-44ED-BDAC-4921D3319D2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E78D75A0-86FB-4AFC-A0CD-2848AF7D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80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E-y6zi6qI1rrDoYFMxtPznwvpRCWVfp0b3j0Bk0o-KQ/edit?usp=sharing" TargetMode="External"/><Relationship Id="rId2" Type="http://schemas.openxmlformats.org/officeDocument/2006/relationships/hyperlink" Target="https://drive.google.com/file/d/1M5riSd1bod3v24F55adGNR-pDLljYqQj/view?usp=sharing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rive.google.com/file/d/1gt_88L-LDsb-g-i-98sU9gGqZQfTAyy9/view?usp=sharing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8E1A-1A5A-C5C9-9BBA-C1A76A4E9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Final Task Analytics Intensive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5E840-2BEA-0FE8-608A-B24F4796A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Yartseva Hanna</a:t>
            </a:r>
          </a:p>
        </p:txBody>
      </p:sp>
    </p:spTree>
    <p:extLst>
      <p:ext uri="{BB962C8B-B14F-4D97-AF65-F5344CB8AC3E}">
        <p14:creationId xmlns:p14="http://schemas.microsoft.com/office/powerpoint/2010/main" val="37029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33C1-AF99-C0B9-A488-571121B6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7699749" cy="29059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E828B-581F-1D86-E718-A653ED7AB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3667968"/>
            <a:ext cx="8596668" cy="2867606"/>
          </a:xfrm>
        </p:spPr>
        <p:txBody>
          <a:bodyPr>
            <a:normAutofit/>
          </a:bodyPr>
          <a:lstStyle/>
          <a:p>
            <a:pPr indent="354013" algn="just">
              <a:lnSpc>
                <a:spcPct val="110000"/>
              </a:lnSpc>
              <a:buFont typeface="Wingdings 3" charset="2"/>
              <a:buAutoNum type="arabicPeriod"/>
            </a:pPr>
            <a:r>
              <a:rPr lang="en-US" b="1" dirty="0"/>
              <a:t>LEFT JOIN </a:t>
            </a:r>
            <a:r>
              <a:rPr lang="uk-UA" dirty="0"/>
              <a:t>повертає всі дані для імені</a:t>
            </a:r>
            <a:r>
              <a:rPr lang="en-US" dirty="0"/>
              <a:t> John</a:t>
            </a:r>
            <a:r>
              <a:rPr lang="uk-UA" dirty="0"/>
              <a:t> з лівої таблиці </a:t>
            </a:r>
            <a:r>
              <a:rPr lang="en-US" dirty="0"/>
              <a:t>table1,</a:t>
            </a:r>
            <a:r>
              <a:rPr lang="uk-UA" dirty="0"/>
              <a:t> </a:t>
            </a:r>
            <a:r>
              <a:rPr lang="en-US" dirty="0"/>
              <a:t> </a:t>
            </a:r>
            <a:r>
              <a:rPr lang="uk-UA" dirty="0"/>
              <a:t>навіть якщо у правій таблиці</a:t>
            </a:r>
            <a:r>
              <a:rPr lang="en-US" dirty="0"/>
              <a:t> table2 </a:t>
            </a:r>
            <a:r>
              <a:rPr lang="uk-UA" dirty="0"/>
              <a:t>відповідностей немає.</a:t>
            </a:r>
            <a:r>
              <a:rPr lang="en-US" dirty="0"/>
              <a:t> </a:t>
            </a:r>
            <a:r>
              <a:rPr lang="uk-UA" dirty="0"/>
              <a:t>Для тих рядків, де збігів немає, дані з </a:t>
            </a:r>
            <a:r>
              <a:rPr lang="en-US" dirty="0"/>
              <a:t>table2 </a:t>
            </a:r>
            <a:r>
              <a:rPr lang="uk-UA" dirty="0"/>
              <a:t>будуть </a:t>
            </a:r>
            <a:r>
              <a:rPr lang="en-US" dirty="0"/>
              <a:t>NULL.</a:t>
            </a:r>
            <a:r>
              <a:rPr lang="uk-UA" dirty="0"/>
              <a:t> </a:t>
            </a:r>
            <a:r>
              <a:rPr lang="en-US" altLang="en-US" dirty="0"/>
              <a:t> </a:t>
            </a:r>
            <a:r>
              <a:rPr lang="uk-UA" altLang="en-US" dirty="0"/>
              <a:t>Але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фільтр</a:t>
            </a:r>
            <a:r>
              <a:rPr kumimoji="0" lang="uk-U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WHERE table2.name = 'John’</a:t>
            </a:r>
            <a:r>
              <a:rPr lang="uk-UA" altLang="en-US" sz="1400" dirty="0">
                <a:solidFill>
                  <a:schemeClr val="tx1"/>
                </a:solidFill>
                <a:latin typeface="Arial Unicode MS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видаляє всі рядки, де table2.name = NULL</a:t>
            </a:r>
            <a:r>
              <a:rPr kumimoji="0" lang="uk-U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uk-UA" dirty="0"/>
              <a:t> </a:t>
            </a:r>
          </a:p>
          <a:p>
            <a:pPr indent="354013" algn="just">
              <a:lnSpc>
                <a:spcPct val="110000"/>
              </a:lnSpc>
            </a:pPr>
            <a:r>
              <a:rPr lang="en-US" b="1" dirty="0"/>
              <a:t>JOIN </a:t>
            </a:r>
            <a:r>
              <a:rPr lang="uk-UA" b="1" dirty="0"/>
              <a:t> </a:t>
            </a:r>
            <a:r>
              <a:rPr lang="uk-UA" dirty="0"/>
              <a:t>одразу п</a:t>
            </a:r>
            <a:r>
              <a:rPr lang="ru-RU" dirty="0"/>
              <a:t>овертає лише ті рядки, для яких є збіги в обох таблицях по імені </a:t>
            </a:r>
            <a:r>
              <a:rPr lang="en-US" dirty="0"/>
              <a:t>John</a:t>
            </a:r>
            <a:r>
              <a:rPr lang="ru-RU" dirty="0"/>
              <a:t>.</a:t>
            </a:r>
            <a:r>
              <a:rPr lang="en-US" dirty="0"/>
              <a:t> </a:t>
            </a:r>
          </a:p>
          <a:p>
            <a:pPr indent="354013" algn="just">
              <a:lnSpc>
                <a:spcPct val="110000"/>
              </a:lnSpc>
              <a:buFont typeface="+mj-lt"/>
              <a:buAutoNum type="arabicPeriod" startAt="2"/>
            </a:pPr>
            <a:r>
              <a:rPr lang="uk-UA" dirty="0"/>
              <a:t>Отримані результати не будуть відрізнятись: тільки рядки, які мають ім’я</a:t>
            </a:r>
            <a:r>
              <a:rPr lang="en-US" dirty="0"/>
              <a:t> John </a:t>
            </a:r>
            <a:r>
              <a:rPr lang="uk-UA" dirty="0"/>
              <a:t>в обох таблицях.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51A6F-95F7-DFFB-1467-B7EF95881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41" t="25408" r="10240" b="25715"/>
          <a:stretch/>
        </p:blipFill>
        <p:spPr>
          <a:xfrm>
            <a:off x="677335" y="591457"/>
            <a:ext cx="7699749" cy="290596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441069D-13A6-B69B-FE8C-37BE66BA5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6334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1906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1689-4ACF-7B4C-9B44-E41AB7D3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2B48-7736-40F2-4EE7-3BFB30198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4460568"/>
            <a:ext cx="8596667" cy="1570962"/>
          </a:xfrm>
        </p:spPr>
        <p:txBody>
          <a:bodyPr/>
          <a:lstStyle/>
          <a:p>
            <a:r>
              <a:rPr lang="en-US" dirty="0">
                <a:hlinkClick r:id="rId2"/>
              </a:rPr>
              <a:t>SQL 1</a:t>
            </a:r>
            <a:r>
              <a:rPr lang="uk-UA" dirty="0">
                <a:hlinkClick r:id="rId2"/>
              </a:rPr>
              <a:t>.2</a:t>
            </a:r>
            <a:endParaRPr lang="en-US" dirty="0"/>
          </a:p>
          <a:p>
            <a:r>
              <a:rPr lang="uk-UA" dirty="0">
                <a:hlinkClick r:id="rId3"/>
              </a:rPr>
              <a:t>Результат запиту 1.2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83305-CB5A-99DB-85DB-2AAAE8F4A7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45" t="22939" r="9274" b="34958"/>
          <a:stretch/>
        </p:blipFill>
        <p:spPr>
          <a:xfrm>
            <a:off x="677333" y="609599"/>
            <a:ext cx="8596667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3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F983-B1D8-6695-9910-92506142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19" y="245807"/>
            <a:ext cx="9469384" cy="1333954"/>
          </a:xfrm>
        </p:spPr>
        <p:txBody>
          <a:bodyPr>
            <a:normAutofit fontScale="90000"/>
          </a:bodyPr>
          <a:lstStyle/>
          <a:p>
            <a:r>
              <a:rPr lang="uk-UA" sz="3300" b="1" dirty="0">
                <a:solidFill>
                  <a:srgbClr val="262626"/>
                </a:solidFill>
                <a:latin typeface="Inter ExtraBold"/>
                <a:ea typeface="Inter ExtraBold"/>
                <a:sym typeface="Arial"/>
              </a:rPr>
              <a:t>Завдання 2 </a:t>
            </a:r>
            <a:r>
              <a:rPr lang="en-US" sz="3300" b="1" dirty="0">
                <a:solidFill>
                  <a:srgbClr val="262626"/>
                </a:solidFill>
                <a:latin typeface="Inter ExtraBold"/>
                <a:ea typeface="Inter ExtraBold"/>
                <a:sym typeface="Arial"/>
              </a:rPr>
              <a:t> </a:t>
            </a:r>
            <a:r>
              <a:rPr lang="uk-UA" sz="1800" dirty="0">
                <a:sym typeface="Arial"/>
              </a:rPr>
              <a:t>Розрахунки: </a:t>
            </a:r>
            <a:r>
              <a:rPr lang="en-US" sz="1800" dirty="0">
                <a:sym typeface="Arial"/>
                <a:hlinkClick r:id="rId2"/>
              </a:rPr>
              <a:t>Tableau</a:t>
            </a:r>
            <a:br>
              <a:rPr lang="uk-UA" dirty="0"/>
            </a:br>
            <a:r>
              <a:rPr lang="uk-UA" sz="1800" dirty="0">
                <a:sym typeface="Arial"/>
              </a:rPr>
              <a:t>Розглянемо середню тривалість обробки запиту в день окремо для розрібної та гуртової команд.</a:t>
            </a:r>
            <a:r>
              <a:rPr lang="uk-UA" dirty="0"/>
              <a:t> 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B3EE777-1B0F-A372-EBB3-16438A0490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35423" t="43577" r="-111372" b="-22139"/>
          <a:stretch/>
        </p:blipFill>
        <p:spPr>
          <a:xfrm>
            <a:off x="6095999" y="3429000"/>
            <a:ext cx="3178175" cy="1849239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B304B1F-E9FD-85CF-AE73-56F7C143FD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5190" t="21797" r="1118" b="11115"/>
          <a:stretch/>
        </p:blipFill>
        <p:spPr>
          <a:xfrm>
            <a:off x="222658" y="1735849"/>
            <a:ext cx="9522503" cy="4876344"/>
          </a:xfrm>
        </p:spPr>
      </p:pic>
    </p:spTree>
    <p:extLst>
      <p:ext uri="{BB962C8B-B14F-4D97-AF65-F5344CB8AC3E}">
        <p14:creationId xmlns:p14="http://schemas.microsoft.com/office/powerpoint/2010/main" val="369270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6B0CA-E3DE-0378-5126-4E5B70B63F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19" t="21506" r="806" b="11254"/>
          <a:stretch/>
        </p:blipFill>
        <p:spPr>
          <a:xfrm>
            <a:off x="196646" y="1288025"/>
            <a:ext cx="10445690" cy="53192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F92B73-C139-4697-1329-44C3ECA3EC2E}"/>
              </a:ext>
            </a:extLst>
          </p:cNvPr>
          <p:cNvSpPr txBox="1"/>
          <p:nvPr/>
        </p:nvSpPr>
        <p:spPr>
          <a:xfrm>
            <a:off x="521110" y="393291"/>
            <a:ext cx="92029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>
                <a:solidFill>
                  <a:schemeClr val="accent1">
                    <a:lumMod val="75000"/>
                  </a:schemeClr>
                </a:solidFill>
              </a:rPr>
              <a:t>Також розглянемо середній час очікування на запит в день.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72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FDA0-DD08-8814-0630-3D75A531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186813"/>
            <a:ext cx="9478298" cy="6489290"/>
          </a:xfrm>
        </p:spPr>
        <p:txBody>
          <a:bodyPr>
            <a:normAutofit fontScale="90000"/>
          </a:bodyPr>
          <a:lstStyle/>
          <a:p>
            <a:r>
              <a:rPr lang="ru-RU" sz="1600" b="1" dirty="0">
                <a:solidFill>
                  <a:schemeClr val="tx1"/>
                </a:solidFill>
                <a:sym typeface="Arial"/>
              </a:rPr>
              <a:t>Наскільки служба підтримки відповідає очікуванням менеджменту? Як вона працює зараз?</a:t>
            </a:r>
            <a:br>
              <a:rPr lang="ru-RU" sz="1600" dirty="0">
                <a:sym typeface="Arial"/>
              </a:rPr>
            </a:br>
            <a:br>
              <a:rPr lang="uk-UA" sz="1600" dirty="0"/>
            </a:br>
            <a:r>
              <a:rPr lang="uk-UA" sz="1600" dirty="0"/>
              <a:t>Діаграма тривалості обробки замовлення показує, що середній час на замовлення в обох командах не перевищує 5 хв, та навіть середній час становить менше хвилини.</a:t>
            </a:r>
            <a:br>
              <a:rPr lang="uk-UA" sz="1600" dirty="0"/>
            </a:br>
            <a:r>
              <a:rPr lang="uk-UA" sz="1600" dirty="0"/>
              <a:t>Що говорить про компетентність та оперативність модераторів обох команд. </a:t>
            </a:r>
            <a:br>
              <a:rPr lang="uk-UA" sz="1600" dirty="0"/>
            </a:br>
            <a:r>
              <a:rPr lang="uk-UA" sz="1600" dirty="0"/>
              <a:t>Виняток становить лише модератор 133, середній час обробки замовлення у нього близько 10 хв.</a:t>
            </a:r>
            <a:br>
              <a:rPr lang="uk-UA" sz="1600" dirty="0"/>
            </a:br>
            <a:br>
              <a:rPr lang="uk-UA" sz="1600" dirty="0"/>
            </a:br>
            <a:r>
              <a:rPr lang="uk-UA" sz="1600" dirty="0"/>
              <a:t>З діаграми часу очікування обробки заявок видно, що в команді роздрібного продажу час очікування становить 7 хв, лише модератор 150 має 19 хв, що трохи перевищує очікувану межу менеджерів у 15 хв.</a:t>
            </a:r>
            <a:br>
              <a:rPr lang="uk-UA" sz="1600" dirty="0"/>
            </a:br>
            <a:br>
              <a:rPr lang="uk-UA" sz="1600" dirty="0"/>
            </a:br>
            <a:r>
              <a:rPr lang="uk-UA" sz="1600" dirty="0"/>
              <a:t>Щодо команди гуртової торгівлі, то час очікування лише у 7 з 25 модераторів становить менше 15 хв. Середній час по команді складає більше 30 хв. А також майже чверть команди не приймає в обробку запити більше як 45 хвилин. </a:t>
            </a:r>
            <a:br>
              <a:rPr lang="uk-UA" sz="1600" dirty="0"/>
            </a:br>
            <a:br>
              <a:rPr lang="uk-UA" sz="1600" dirty="0"/>
            </a:br>
            <a:r>
              <a:rPr lang="uk-UA" sz="1600" dirty="0"/>
              <a:t>Це можна пояснити значним обсягом заявок у команди гурту - 21 592 (60,6%) проти 14 025 (39,4%) заявок команди роздрібних продажів, при майже однаковій кількості працівників – 24 роздріб, 25 гурт.</a:t>
            </a:r>
            <a:br>
              <a:rPr lang="uk-UA" sz="1600" dirty="0"/>
            </a:br>
            <a:br>
              <a:rPr lang="uk-UA" sz="1600" dirty="0"/>
            </a:br>
            <a:r>
              <a:rPr lang="uk-UA" sz="1600" dirty="0"/>
              <a:t>Тобто очікуванням менеджерів не відповідає час очікування обробки заявок в команді гуртових продажів.</a:t>
            </a:r>
            <a:br>
              <a:rPr lang="uk-UA" sz="1600" dirty="0"/>
            </a:br>
            <a:br>
              <a:rPr lang="uk-UA" sz="1600" dirty="0"/>
            </a:br>
            <a:br>
              <a:rPr lang="uk-UA" sz="1600" dirty="0"/>
            </a:br>
            <a:r>
              <a:rPr lang="ru-RU" sz="1600" b="1" dirty="0">
                <a:solidFill>
                  <a:schemeClr val="tx1"/>
                </a:solidFill>
                <a:sym typeface="Arial"/>
              </a:rPr>
              <a:t>На яких агентів варто звернути увагу задля підвищення якості обслуговування?</a:t>
            </a:r>
            <a:br>
              <a:rPr lang="ru-RU" sz="1600" b="1" dirty="0">
                <a:solidFill>
                  <a:schemeClr val="tx1"/>
                </a:solidFill>
                <a:sym typeface="Arial"/>
              </a:rPr>
            </a:br>
            <a:br>
              <a:rPr lang="ru-RU" sz="1600" b="1" dirty="0">
                <a:solidFill>
                  <a:schemeClr val="tx1"/>
                </a:solidFill>
                <a:sym typeface="Arial"/>
              </a:rPr>
            </a:br>
            <a:r>
              <a:rPr lang="ru-RU" sz="1600" dirty="0">
                <a:sym typeface="Arial"/>
              </a:rPr>
              <a:t>Треба звернути увагу на агентів, які мають рекордно високі показники:</a:t>
            </a:r>
            <a:br>
              <a:rPr lang="ru-RU" sz="1600" dirty="0">
                <a:sym typeface="Arial"/>
              </a:rPr>
            </a:br>
            <a:r>
              <a:rPr lang="ru-RU" sz="1600" dirty="0">
                <a:sym typeface="Arial"/>
              </a:rPr>
              <a:t> </a:t>
            </a:r>
            <a:br>
              <a:rPr lang="ru-RU" sz="1600" dirty="0">
                <a:sym typeface="Arial"/>
              </a:rPr>
            </a:br>
            <a:r>
              <a:rPr lang="ru-RU" sz="1600" dirty="0">
                <a:sym typeface="Arial"/>
              </a:rPr>
              <a:t>* модератор 133 команда роздрібної торгівлі - </a:t>
            </a:r>
            <a:r>
              <a:rPr lang="uk-UA" sz="1600" dirty="0"/>
              <a:t>середній час обробки замовлення у нього близько 10 хв та час очікування обробки заявок на день 7,3 год (440 хв)</a:t>
            </a:r>
            <a:br>
              <a:rPr lang="uk-UA" sz="1600" dirty="0"/>
            </a:br>
            <a:r>
              <a:rPr lang="uk-UA" sz="1600" dirty="0"/>
              <a:t>* модератор 126 команда гурту - час очікування обробки заявок 4 дні</a:t>
            </a:r>
            <a:br>
              <a:rPr lang="uk-UA" sz="1600" dirty="0"/>
            </a:br>
            <a:r>
              <a:rPr lang="uk-UA" sz="1600" dirty="0"/>
              <a:t>* модератор 185 команда гурту - час очікування обробки заявок 10 год.</a:t>
            </a:r>
            <a:br>
              <a:rPr lang="uk-UA" sz="1600" dirty="0"/>
            </a:br>
            <a:br>
              <a:rPr lang="uk-UA" sz="1600" dirty="0"/>
            </a:br>
            <a:br>
              <a:rPr lang="uk-UA" sz="1600" dirty="0"/>
            </a:br>
            <a:br>
              <a:rPr lang="uk-UA" sz="1600" dirty="0"/>
            </a:b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20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E5E2-4E26-99E4-D85B-5271669BC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81781"/>
          </a:xfrm>
        </p:spPr>
        <p:txBody>
          <a:bodyPr>
            <a:normAutofit/>
          </a:bodyPr>
          <a:lstStyle/>
          <a:p>
            <a:r>
              <a:rPr lang="ru-RU" sz="1400" b="1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Як варто змінити графік служби підтримки?</a:t>
            </a: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8A4DB-A4B9-9AAC-F1F9-B0EFB988B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16" t="21506" r="20484" b="11111"/>
          <a:stretch/>
        </p:blipFill>
        <p:spPr>
          <a:xfrm>
            <a:off x="421695" y="951675"/>
            <a:ext cx="4897557" cy="3492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09D7ED-C439-82E7-4825-B9FA1C9620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75" t="22079" r="7903" b="11254"/>
          <a:stretch/>
        </p:blipFill>
        <p:spPr>
          <a:xfrm>
            <a:off x="5319252" y="783657"/>
            <a:ext cx="5416567" cy="36605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C70E3C-887F-8EBF-1591-68EC25EE2744}"/>
              </a:ext>
            </a:extLst>
          </p:cNvPr>
          <p:cNvSpPr txBox="1"/>
          <p:nvPr/>
        </p:nvSpPr>
        <p:spPr>
          <a:xfrm>
            <a:off x="323919" y="4786256"/>
            <a:ext cx="97541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Як видно з графіків розподілу виникнення запитів впродовж доби та часу початку їх обробки модераторами, до 6-ї години ранку модератори майже не обробляють запити, хоча значна частина вже очікують на обробку. Пік обробки заявок починається з 7 ранку, що говорить можливо про початок роботи більшості працівників.</a:t>
            </a:r>
          </a:p>
          <a:p>
            <a:r>
              <a:rPr lang="uk-UA" sz="14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  <a:p>
            <a:r>
              <a:rPr lang="uk-UA" sz="14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Піки початку обробки запитів зберігаються з 7 години до 13 години, хоча кількість надходження запитів вже спадає. Що свідчить про підвищене навантаження на модераторів через ранкові, накопичені запити.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2477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1F2B-D29B-B8F3-8C66-A64789FD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73" y="609599"/>
            <a:ext cx="11519950" cy="6046839"/>
          </a:xfrm>
        </p:spPr>
        <p:txBody>
          <a:bodyPr>
            <a:normAutofit/>
          </a:bodyPr>
          <a:lstStyle/>
          <a:p>
            <a:r>
              <a:rPr lang="ru-RU" sz="1400" b="1" dirty="0">
                <a:solidFill>
                  <a:schemeClr val="tx1"/>
                </a:solidFill>
                <a:sym typeface="Arial"/>
              </a:rPr>
              <a:t>Чи варто збільшити команду підтримки і наскільки? Чи є вигода від об'єднання команд?</a:t>
            </a:r>
            <a:br>
              <a:rPr lang="ru-RU" sz="1400" b="1" dirty="0">
                <a:solidFill>
                  <a:schemeClr val="tx1"/>
                </a:solidFill>
                <a:sym typeface="Arial"/>
              </a:rPr>
            </a:br>
            <a:b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uk-UA" sz="1400" dirty="0"/>
            </a:br>
            <a:br>
              <a:rPr lang="uk-UA" sz="1400" dirty="0"/>
            </a:b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D4F7C-48A1-7EB6-5365-67571565E3DF}"/>
              </a:ext>
            </a:extLst>
          </p:cNvPr>
          <p:cNvSpPr txBox="1"/>
          <p:nvPr/>
        </p:nvSpPr>
        <p:spPr>
          <a:xfrm>
            <a:off x="423316" y="2021872"/>
            <a:ext cx="99365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Виходячи з загальної кількості запитів від клієнтів та нормативного часу на виконання заявки 5 хв та 15 хв на очікування обробки розраховуємо нормативну чисельність працівників на добу:</a:t>
            </a:r>
          </a:p>
          <a:p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команда роздрібних продажів – 2 працівника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команда гуртових продажів – 4 працівника.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Оскільки для вчасної обробки заявок потрібно організувати цілодобове чергування працівників збільшуємо добову чисельність на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4,8</a:t>
            </a:r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 од.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 (норматив чисельності на один пост з урахуванням відпусток, </a:t>
            </a:r>
            <a:r>
              <a:rPr lang="uk-UA" dirty="0" err="1">
                <a:solidFill>
                  <a:schemeClr val="accent1">
                    <a:lumMod val="75000"/>
                  </a:schemeClr>
                </a:solidFill>
              </a:rPr>
              <a:t>хвороб</a:t>
            </a:r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 тощо).</a:t>
            </a:r>
          </a:p>
          <a:p>
            <a:endParaRPr lang="uk-UA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uk-UA" dirty="0">
                <a:solidFill>
                  <a:schemeClr val="accent1">
                    <a:lumMod val="75000"/>
                  </a:schemeClr>
                </a:solidFill>
              </a:rPr>
              <a:t>Отже отримаємо загальну нормативну чисельність 28 чоловік, тоді як фактична становить 49 працівників. </a:t>
            </a:r>
            <a:endParaRPr lang="uk-UA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6A772-2DBB-C300-7A54-514E9DD88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97" t="25950" r="855" b="63298"/>
          <a:stretch/>
        </p:blipFill>
        <p:spPr>
          <a:xfrm>
            <a:off x="160774" y="996212"/>
            <a:ext cx="10841523" cy="87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09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45C1-3B0D-8690-DA01-3AF1CFDD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4503175"/>
            <a:ext cx="9242323" cy="2012695"/>
          </a:xfrm>
        </p:spPr>
        <p:txBody>
          <a:bodyPr>
            <a:noAutofit/>
          </a:bodyPr>
          <a:lstStyle/>
          <a:p>
            <a:r>
              <a:rPr lang="uk-UA" sz="1600" dirty="0">
                <a:latin typeface="+mn-lt"/>
                <a:ea typeface="+mn-ea"/>
                <a:cs typeface="+mn-cs"/>
              </a:rPr>
              <a:t>Але водночас враховуємо стрімко зростаючу динаміку заявок протягом жовтня-грудня. Що пов’язано можливо із сезонністю або масштабуванням бізнесу. Якщо для листопада нормативної чисельності у 11 осіб команди роздрібної торгівлі та 16 осіб команди гурту нам вистачило. То у грудні ми вже потребуємо 16 працівників у роздробу та 33 для гурту, тобто 49 працівників, які ми фактично маємо. </a:t>
            </a:r>
            <a:br>
              <a:rPr lang="uk-UA" sz="1600" dirty="0">
                <a:latin typeface="+mn-lt"/>
                <a:ea typeface="+mn-ea"/>
                <a:cs typeface="+mn-cs"/>
              </a:rPr>
            </a:br>
            <a:br>
              <a:rPr lang="uk-UA" sz="1600" dirty="0">
                <a:latin typeface="+mn-lt"/>
                <a:ea typeface="+mn-ea"/>
                <a:cs typeface="+mn-cs"/>
              </a:rPr>
            </a:br>
            <a:r>
              <a:rPr lang="uk-UA" sz="1600" dirty="0">
                <a:latin typeface="+mn-lt"/>
                <a:ea typeface="+mn-ea"/>
                <a:cs typeface="+mn-cs"/>
              </a:rPr>
              <a:t>Підсумовуючи викладене рекомендується перерозподілити чисельність команд або об’єднати їх в одну для вчасної обробки зростаючої чисельності заявок та переглянути робочий графік, для рівномірної присутності працівників протягом доби.</a:t>
            </a:r>
            <a:endParaRPr lang="en-US" sz="16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6C8E93-A25C-30BE-ABB9-18E432BAE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78" t="25520" r="3261" b="11541"/>
          <a:stretch/>
        </p:blipFill>
        <p:spPr>
          <a:xfrm>
            <a:off x="176981" y="0"/>
            <a:ext cx="8785620" cy="431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062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327</TotalTime>
  <Words>724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Inter ExtraBold</vt:lpstr>
      <vt:lpstr>Trebuchet MS</vt:lpstr>
      <vt:lpstr>Wingdings 3</vt:lpstr>
      <vt:lpstr>Facet</vt:lpstr>
      <vt:lpstr>Final Task Analytics Intensive</vt:lpstr>
      <vt:lpstr>PowerPoint Presentation</vt:lpstr>
      <vt:lpstr>PowerPoint Presentation</vt:lpstr>
      <vt:lpstr>Завдання 2  Розрахунки: Tableau Розглянемо середню тривалість обробки запиту в день окремо для розрібної та гуртової команд. </vt:lpstr>
      <vt:lpstr>PowerPoint Presentation</vt:lpstr>
      <vt:lpstr>Наскільки служба підтримки відповідає очікуванням менеджменту? Як вона працює зараз?  Діаграма тривалості обробки замовлення показує, що середній час на замовлення в обох командах не перевищує 5 хв, та навіть середній час становить менше хвилини. Що говорить про компетентність та оперативність модераторів обох команд.  Виняток становить лише модератор 133, середній час обробки замовлення у нього близько 10 хв.  З діаграми часу очікування обробки заявок видно, що в команді роздрібного продажу час очікування становить 7 хв, лише модератор 150 має 19 хв, що трохи перевищує очікувану межу менеджерів у 15 хв.  Щодо команди гуртової торгівлі, то час очікування лише у 7 з 25 модераторів становить менше 15 хв. Середній час по команді складає більше 30 хв. А також майже чверть команди не приймає в обробку запити більше як 45 хвилин.   Це можна пояснити значним обсягом заявок у команди гурту - 21 592 (60,6%) проти 14 025 (39,4%) заявок команди роздрібних продажів, при майже однаковій кількості працівників – 24 роздріб, 25 гурт.  Тобто очікуванням менеджерів не відповідає час очікування обробки заявок в команді гуртових продажів.   На яких агентів варто звернути увагу задля підвищення якості обслуговування?  Треба звернути увагу на агентів, які мають рекордно високі показники:   * модератор 133 команда роздрібної торгівлі - середній час обробки замовлення у нього близько 10 хв та час очікування обробки заявок на день 7,3 год (440 хв) * модератор 126 команда гурту - час очікування обробки заявок 4 дні * модератор 185 команда гурту - час очікування обробки заявок 10 год.    </vt:lpstr>
      <vt:lpstr>Як варто змінити графік служби підтримки?</vt:lpstr>
      <vt:lpstr>Чи варто збільшити команду підтримки і наскільки? Чи є вигода від об'єднання команд?    </vt:lpstr>
      <vt:lpstr>Але водночас враховуємо стрімко зростаючу динаміку заявок протягом жовтня-грудня. Що пов’язано можливо із сезонністю або масштабуванням бізнесу. Якщо для листопада нормативної чисельності у 11 осіб команди роздрібної торгівлі та 16 осіб команди гурту нам вистачило. То у грудні ми вже потребуємо 16 працівників у роздробу та 33 для гурту, тобто 49 працівників, які ми фактично маємо.   Підсумовуючи викладене рекомендується перерозподілити чисельність команд або об’єднати їх в одну для вчасної обробки зростаючої чисельності заявок та переглянути робочий графік, для рівномірної присутності працівників протягом доби.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 Yartseva</dc:creator>
  <cp:lastModifiedBy>Hanna Yartseva</cp:lastModifiedBy>
  <cp:revision>41</cp:revision>
  <dcterms:created xsi:type="dcterms:W3CDTF">2025-11-15T15:44:46Z</dcterms:created>
  <dcterms:modified xsi:type="dcterms:W3CDTF">2025-11-17T11:07:24Z</dcterms:modified>
</cp:coreProperties>
</file>